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TTFT — Birinchi token vaqti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TTFT (s)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Ollama (GPU)</c:v>
                  </c:pt>
                  <c:pt idx="1">
                    <c:v>vLLM (GPU)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0.49</c:v>
                </c:pt>
                <c:pt idx="1">
                  <c:v>0.04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3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Tok/s — Sekunddagi tokenlar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Tok/s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Ollama (GPU)</c:v>
                  </c:pt>
                  <c:pt idx="1">
                    <c:v>vLLM (GPU)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35.3</c:v>
                </c:pt>
                <c:pt idx="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3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C305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1C305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8BDF8"/>
                </a:solidFill>
              </a:rPr>
              <a:t>POC-023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</a:rPr>
              <a:t>LLM Inference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Не обучение, а инференс: KV Cache · Batching · Streaming · Quantization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6334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Ollama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12848" y="27889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63348"/>
          </a:solidFill>
          <a:ln/>
        </p:spPr>
      </p:sp>
      <p:sp>
        <p:nvSpPr>
          <p:cNvPr id="10" name="Text 8"/>
          <p:cNvSpPr/>
          <p:nvPr/>
        </p:nvSpPr>
        <p:spPr>
          <a:xfrm>
            <a:off x="2212848" y="2788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vLLM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77056" y="27889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63348"/>
          </a:solidFill>
          <a:ln/>
        </p:spPr>
      </p:sp>
      <p:sp>
        <p:nvSpPr>
          <p:cNvPr id="12" name="Text 10"/>
          <p:cNvSpPr/>
          <p:nvPr/>
        </p:nvSpPr>
        <p:spPr>
          <a:xfrm>
            <a:off x="3877056" y="2788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FastAPI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41264" y="27889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63348"/>
          </a:solidFill>
          <a:ln/>
        </p:spPr>
      </p:sp>
      <p:sp>
        <p:nvSpPr>
          <p:cNvPr id="14" name="Text 12"/>
          <p:cNvSpPr/>
          <p:nvPr/>
        </p:nvSpPr>
        <p:spPr>
          <a:xfrm>
            <a:off x="5541264" y="2788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RAG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05472" y="27889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63348"/>
          </a:solidFill>
          <a:ln/>
        </p:spPr>
      </p:sp>
      <p:sp>
        <p:nvSpPr>
          <p:cNvPr id="16" name="Text 14"/>
          <p:cNvSpPr/>
          <p:nvPr/>
        </p:nvSpPr>
        <p:spPr>
          <a:xfrm>
            <a:off x="7205472" y="2788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</a:rPr>
              <a:t>INT4/INT8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411480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56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3456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POC-023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Tur: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3703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Research + POC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9502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Murakkablik: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20240" y="3950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★★★ Yuqori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1970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Muallif: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20240" y="41970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Rovshen R. Ashirov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</a:rPr>
              <a:t>MUAMMO VA MAQSAD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Nima o'rgandik va nima uchun?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34747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❌  Muammo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874520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10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LLM modellar juda ko'p VRAM talab qiladi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2441448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Ko'p foydalanuvchi = sekinlashadi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" y="3008376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9443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Ma'lumotlar tashqariga chiqib ketadi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575304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5112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Katta modellar kichik GPU ga sig'maydi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40233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34440"/>
            <a:ext cx="54864" cy="3474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✅  Yechim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28032" y="187452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1810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vLLM + PagedAttention: xotira samarali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28032" y="244144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Continuous batching: ko'p foydalanuvchi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3008376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5047488" y="29443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On-premise: ma'lumotlar tashqariga chiqmaydi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3575304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5047488" y="35112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Quantization INT4: 4x kam VRAM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18CF8"/>
                </a:solidFill>
              </a:rPr>
              <a:t>TIZIM KONFIGURATSIYASI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Hardware va o'rnatilgan muhit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307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Ubuntu 24.04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54864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1307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28032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NVIDIA RTX 2050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40233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01168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VRAM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4 GB ⚠️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011680"/>
            <a:ext cx="40233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011680"/>
            <a:ext cx="54864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CUDA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28032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13.0 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40233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788920"/>
            <a:ext cx="5486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2862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Python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3.12.3 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788920"/>
            <a:ext cx="40233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788920"/>
            <a:ext cx="54864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2862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28032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30 GB 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40233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66160"/>
            <a:ext cx="5486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Disk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348 GB bo'sh ✅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D1B00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4622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⚠️  VRAM cheklovi: 4GB VRAM sababli faqat kichik modellar GPU da ishlaydi  →  gemma3:1b (778MB) ishlatildi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D399"/>
                </a:solidFill>
              </a:rPr>
              <a:t>LOYIHA ARXITEKTURASI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6 bosqichda qurilgan tizim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52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Foydalanuvchi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27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Brauzer — index.html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0" y="18470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68096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11680"/>
            <a:ext cx="54864" cy="6583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75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FastAPI (port 8000)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3500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POST /chat · /chat/stream · /rag/upload · /rag/query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0" y="2670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768096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834640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98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Ollama (port 11434)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172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gemma3:1b · gemma3:1b-it-q8_0 · llama3.2:3b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0" y="3493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768096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57600"/>
            <a:ext cx="54864" cy="6583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721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vLLM (port 8001)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995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gemma3-1b.gguf · PagedAttention · OpenAI-compatible API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3657600" cy="50292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4622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ChromaDB  —  ./chroma_db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4434840"/>
            <a:ext cx="3657600" cy="50292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4622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</a:rPr>
              <a:t>sentence-transformers  —  lokal embedding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BENCHMARK — BOSQICH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Ollama vs vLLM — bir xil model (gemma3:1b), GPU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18872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7" name="Text 3"/>
          <p:cNvSpPr/>
          <p:nvPr/>
        </p:nvSpPr>
        <p:spPr>
          <a:xfrm>
            <a:off x="594360" y="45537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</a:rPr>
              <a:t>vLLM: TTFT 12x tezroq (0.04s vs 0.49s)   ·   Tok/s 2.8x ko'p (100 vs 35.3)   ·   Sabab: PagedAttention + GPU optimallashtirish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72B6"/>
                </a:solidFill>
              </a:rPr>
              <a:t>QUANTIZATION — BOSQICH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INT4 vs INT8 — sifat va tezlik kompromissi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VRAM sarfi (1B parametr uchun):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FP32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34440" y="1508760"/>
            <a:ext cx="7772400" cy="29260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9098280" y="1463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4 GB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FP16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34440" y="2075688"/>
            <a:ext cx="38862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2029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 GB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5968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INT8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34440" y="2642616"/>
            <a:ext cx="1938528" cy="29260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25968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1 GB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INT4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34440" y="3209544"/>
            <a:ext cx="969264" cy="2926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2295144" y="31638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500 MB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1143000"/>
            <a:ext cx="3657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66360" y="12618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Benchmark natijalar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1664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Model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07608" y="1664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TTFT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48856" y="1664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Tok/s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690104" y="1664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Hajm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74920" y="1938528"/>
            <a:ext cx="3520440" cy="68580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0" y="1938528"/>
            <a:ext cx="45720" cy="685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5193792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gemma3:1b (INT4)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76288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0.42s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43216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106.7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93792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815 MB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74920" y="2715768"/>
            <a:ext cx="3520440" cy="68580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30" name="Shape 28"/>
          <p:cNvSpPr/>
          <p:nvPr/>
        </p:nvSpPr>
        <p:spPr>
          <a:xfrm>
            <a:off x="5074920" y="2715768"/>
            <a:ext cx="45720" cy="6858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1" name="Text 29"/>
          <p:cNvSpPr/>
          <p:nvPr/>
        </p:nvSpPr>
        <p:spPr>
          <a:xfrm>
            <a:off x="5193792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gemma3:1b-it-q8_0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76288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0.40s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43216" y="2788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80.5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93792" y="3063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1.1 GB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74920" y="3703320"/>
            <a:ext cx="3520440" cy="502920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3749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INT4: tez + kichik 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INT8: aniq + katta 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234440" y="4370832"/>
            <a:ext cx="3657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325880" y="4224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← 4 GB VRAM chegarasi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</a:rPr>
              <a:t>RAG TIZIMI — BOSQICH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Retrieval Augmented Generation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INDEKSLASH PIPELINE (1 marta)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65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9659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PDF/TXT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pypdf / TextLoader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423160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1554480"/>
            <a:ext cx="1965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554480"/>
            <a:ext cx="196596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Bo'laklar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RecursiveCharacterTextSplitter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1965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5448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Vektorlar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sentence-transformers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20840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03720" y="1554480"/>
            <a:ext cx="1965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554480"/>
            <a:ext cx="196596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ChromaDB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./chroma_db (diskka)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QIDIRISH PIPELINE (har savol uchun)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1965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834640"/>
            <a:ext cx="19659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Savol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POST /rag/query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423160" y="3017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606040" y="2834640"/>
            <a:ext cx="1965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06040" y="2834640"/>
            <a:ext cx="196596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2" name="Text 30"/>
          <p:cNvSpPr/>
          <p:nvPr/>
        </p:nvSpPr>
        <p:spPr>
          <a:xfrm>
            <a:off x="269748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Vektor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97480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sentence-transformers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0" y="3017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2834640"/>
            <a:ext cx="1965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83464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Top-3 bo'lak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ChromaDB similarity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20840" y="3017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03720" y="2834640"/>
            <a:ext cx="1965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03720" y="2834640"/>
            <a:ext cx="196596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2" name="Text 40"/>
          <p:cNvSpPr/>
          <p:nvPr/>
        </p:nvSpPr>
        <p:spPr>
          <a:xfrm>
            <a:off x="699516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LLM Javob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95160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gemma3:1b (Ollama)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3794760"/>
            <a:ext cx="822960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Test natijasi: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" y="4160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Savol: "O'zbekiston poytaxti qaysi shahar?"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436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Javob: "Poytaxti Toshkent shahri hisoblanadi."  ✅  (faqat test.txt dan topildi)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D399"/>
                </a:solidFill>
              </a:rPr>
              <a:t>BARCHA BENCHMARK NATIJALARI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Jamlangan o'lchov natijalari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051560" cy="347472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887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Tizim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1417320" cy="347472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Model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1188720"/>
            <a:ext cx="868680" cy="347472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1188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Qurilma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868680" cy="347472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1188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TTFT (s)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868680" cy="347472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188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Tok/s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1188720"/>
            <a:ext cx="2788920" cy="347472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Izoh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600200"/>
            <a:ext cx="85039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Ollama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gemma3:1b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80360" y="1645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CPU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94760" y="1645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2.40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1645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28.9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2356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Eski benchmark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057400"/>
            <a:ext cx="8503920" cy="41148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103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vLLM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1732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gemma3:1b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80360" y="2103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GPU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94760" y="2103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0.10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2103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95.8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235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Eski benchmark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514600"/>
            <a:ext cx="85039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560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Ollama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1732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gemma3:1b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80360" y="2560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GPU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94760" y="2560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0.49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2560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35.3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2356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To'g'ri taqqoslash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2971800"/>
            <a:ext cx="8503920" cy="41148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3017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vLLM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41732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gemma3:1b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8036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GPU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9476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0.04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100.0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235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To'g'ri taqqoslash ✅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429000"/>
            <a:ext cx="85039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3474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Ollama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41732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INT4 (Q4_K_M)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80360" y="3474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GPU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794760" y="3474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0.42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09160" y="3474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106.7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2356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Quantization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3886200"/>
            <a:ext cx="8503920" cy="41148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3931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Ollama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41732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INT8 (Q8_0)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880360" y="3931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GPU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794760" y="3931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0.40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09160" y="3931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80.5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2356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Quantization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4480560"/>
            <a:ext cx="8503920" cy="457200"/>
          </a:xfrm>
          <a:prstGeom prst="rect">
            <a:avLst/>
          </a:prstGeom>
          <a:solidFill>
            <a:srgbClr val="0F2A1A"/>
          </a:solidFill>
          <a:ln/>
        </p:spPr>
      </p:sp>
      <p:sp>
        <p:nvSpPr>
          <p:cNvPr id="59" name="Text 57"/>
          <p:cNvSpPr/>
          <p:nvPr/>
        </p:nvSpPr>
        <p:spPr>
          <a:xfrm>
            <a:off x="411480" y="450799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</a:rPr>
              <a:t>Xulosa: vLLM GPU da Ollama GPU dan 12x tezroq TTFT va 2.8x ko'p Tok/s beradi  |  Production uchun → vLLM  |  Dev uchun → Ollama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</a:rPr>
              <a:t>DELIVERABLES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Nima topshirildi?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691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98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691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OpenAI-compatible API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" y="2103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vLLM orqali /v1/completions endpointi. Har qanday OpenAI kutubxonasi bilan ishlaydi.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00600" y="1188720"/>
            <a:ext cx="41148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188720"/>
            <a:ext cx="54864" cy="16916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9"/>
          <p:cNvSpPr/>
          <p:nvPr/>
        </p:nvSpPr>
        <p:spPr>
          <a:xfrm>
            <a:off x="4965192" y="1298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</a:rPr>
              <a:t>02</a:t>
            </a:r>
            <a:endParaRPr lang="en-US" sz="2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25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65192" y="1691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Streaming Chat Interface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65192" y="2103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SSE orqali token-by-token javob. FastAPI + index.html. ChatGPT kabi UX.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1148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063240"/>
            <a:ext cx="54864" cy="1691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4"/>
          <p:cNvSpPr/>
          <p:nvPr/>
        </p:nvSpPr>
        <p:spPr>
          <a:xfrm>
            <a:off x="621792" y="3172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</a:rPr>
              <a:t>03</a:t>
            </a:r>
            <a:endParaRPr lang="en-US" sz="2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2004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Benchmark: Ollama vs vLLM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1792" y="3977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benchmark.py — 9 o'lchov, TTFT va Tok/s. Ikkalasi GPU da, bir xil model.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800600" y="3063240"/>
            <a:ext cx="41148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00600" y="3063240"/>
            <a:ext cx="54864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19"/>
          <p:cNvSpPr/>
          <p:nvPr/>
        </p:nvSpPr>
        <p:spPr>
          <a:xfrm>
            <a:off x="4965192" y="3172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</a:rPr>
              <a:t>04</a:t>
            </a:r>
            <a:endParaRPr lang="en-US" sz="2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004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65192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RAG tizimi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965192" y="3977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PDF/TXT yuklash, ChromaDB, sentence-transformers. /rag/upload + /rag/query.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1422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72B6"/>
                </a:solidFill>
              </a:rPr>
              <a:t>XULOSA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</a:rPr>
              <a:t>POC-023 tugadi!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6916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572768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6276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✅  Muhit sozlash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463040"/>
            <a:ext cx="16916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95728" y="1572768"/>
            <a:ext cx="320040" cy="3200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2395728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88920" y="16276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✅  FastAPI + /chat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1463040"/>
            <a:ext cx="16916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24528" y="1572768"/>
            <a:ext cx="320040" cy="3200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4224528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16276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✅  Streaming (SSE)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16916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2395728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24505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✅  Benchmark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2286000"/>
            <a:ext cx="16916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395728" y="2395728"/>
            <a:ext cx="320040" cy="32004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3" name="Text 21"/>
          <p:cNvSpPr/>
          <p:nvPr/>
        </p:nvSpPr>
        <p:spPr>
          <a:xfrm>
            <a:off x="2395728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88920" y="24505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✅  RAG tizimi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0" y="2286000"/>
            <a:ext cx="16916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24528" y="2395728"/>
            <a:ext cx="320040" cy="3200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224528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17720" y="24505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✅  Quantization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26517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337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</a:rPr>
              <a:t>12x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548640" y="4041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TTFT tezroq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vLLM vs Ollama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37560" y="3246120"/>
            <a:ext cx="26517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37560" y="3337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</a:rPr>
              <a:t>4x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3429000" y="4041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kam VRAM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INT4 quantization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3246120"/>
            <a:ext cx="26517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17920" y="3337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72B6"/>
                </a:solidFill>
              </a:rPr>
              <a:t>0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6309360" y="4041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tashqi server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on-premise ✅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POC-023  ·  Rovshen R. Ashirov  ·  2026  ·  On-premise LLM Inference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POC-023 — LLM Inference Hisoboti</dc:title>
  <dc:subject>PptxGenJS Presentation</dc:subject>
  <dc:creator>Rovshen R. Ashirov</dc:creator>
  <cp:lastModifiedBy>Rovshen R. Ashirov</cp:lastModifiedBy>
  <cp:revision>1</cp:revision>
  <dcterms:created xsi:type="dcterms:W3CDTF">2026-04-29T06:27:14Z</dcterms:created>
  <dcterms:modified xsi:type="dcterms:W3CDTF">2026-04-29T06:27:14Z</dcterms:modified>
</cp:coreProperties>
</file>